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($)</c:v>
                </c:pt>
              </c:strCache>
            </c:strRef>
          </c:tx>
          <c:spPr>
            <a:solidFill>
              <a:srgbClr val="0E46EC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A2E6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164443</c:v>
                </c:pt>
                <c:pt idx="1">
                  <c:v>155151</c:v>
                </c:pt>
                <c:pt idx="2">
                  <c:v>164965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Profit ($)</c:v>
                </c:pt>
              </c:strCache>
            </c:strRef>
          </c:tx>
          <c:spPr>
            <a:solidFill>
              <a:srgbClr val="FFC107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A2E6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53156</c:v>
                </c:pt>
                <c:pt idx="1">
                  <c:v>51616</c:v>
                </c:pt>
                <c:pt idx="2">
                  <c:v>54102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0A2E6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5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5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($)</c:v>
                </c:pt>
              </c:strCache>
            </c:strRef>
          </c:tx>
          <c:spPr>
            <a:solidFill>
              <a:srgbClr val="0E46EC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A2E6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Furniture</c:v>
                  </c:pt>
                  <c:pt idx="1">
                    <c:v>Technology</c:v>
                  </c:pt>
                  <c:pt idx="2">
                    <c:v>Clothing &amp; Acc.</c:v>
                  </c:pt>
                  <c:pt idx="3">
                    <c:v>Office Supplies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256275</c:v>
                </c:pt>
                <c:pt idx="1">
                  <c:v>139518</c:v>
                </c:pt>
                <c:pt idx="2">
                  <c:v>69376</c:v>
                </c:pt>
                <c:pt idx="3">
                  <c:v>19391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A2E6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A2E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($)</c:v>
                </c:pt>
              </c:strCache>
            </c:strRef>
          </c:tx>
          <c:spPr>
            <a:solidFill>
              <a:srgbClr val="5B8DFF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A2E6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Europe</c:v>
                  </c:pt>
                  <c:pt idx="1">
                    <c:v>North America</c:v>
                  </c:pt>
                  <c:pt idx="2">
                    <c:v>Asia Pacific</c:v>
                  </c:pt>
                  <c:pt idx="3">
                    <c:v>S. America</c:v>
                  </c:pt>
                  <c:pt idx="4">
                    <c:v>MEA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137006</c:v>
                </c:pt>
                <c:pt idx="1">
                  <c:v>133876</c:v>
                </c:pt>
                <c:pt idx="2">
                  <c:v>121708</c:v>
                </c:pt>
                <c:pt idx="3">
                  <c:v>46051</c:v>
                </c:pt>
                <c:pt idx="4">
                  <c:v>45918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50" u="none">
                  <a:solidFill>
                    <a:srgbClr val="0A2E6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A2E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($)</c:v>
                </c:pt>
              </c:strCache>
            </c:strRef>
          </c:tx>
          <c:spPr>
            <a:solidFill>
              <a:srgbClr val="FFC107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A2E6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Mexico</c:v>
                  </c:pt>
                  <c:pt idx="1">
                    <c:v>Canada</c:v>
                  </c:pt>
                  <c:pt idx="2">
                    <c:v>United States</c:v>
                  </c:pt>
                  <c:pt idx="3">
                    <c:v>Japan</c:v>
                  </c:pt>
                  <c:pt idx="4">
                    <c:v>UK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47217</c:v>
                </c:pt>
                <c:pt idx="1">
                  <c:v>45327</c:v>
                </c:pt>
                <c:pt idx="2">
                  <c:v>41333</c:v>
                </c:pt>
                <c:pt idx="3">
                  <c:v>30950</c:v>
                </c:pt>
                <c:pt idx="4">
                  <c:v>30185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50" u="none">
                  <a:solidFill>
                    <a:srgbClr val="0A2E6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A2E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($)</c:v>
                </c:pt>
              </c:strCache>
            </c:strRef>
          </c:tx>
          <c:spPr>
            <a:solidFill>
              <a:srgbClr val="0E46EC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A2E6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Standing Desk Converter</c:v>
                  </c:pt>
                  <c:pt idx="1">
                    <c:v>Ergonomic Office Chair</c:v>
                  </c:pt>
                  <c:pt idx="2">
                    <c:v>Corner L-Shaped Desk</c:v>
                  </c:pt>
                  <c:pt idx="3">
                    <c:v>Mesh Back Task Chair</c:v>
                  </c:pt>
                  <c:pt idx="4">
                    <c:v>Wireless Bluetooth Headphones</c:v>
                  </c:pt>
                  <c:pt idx="5">
                    <c:v>Mechanical Gaming Keyboard</c:v>
                  </c:pt>
                  <c:pt idx="6">
                    <c:v>Filing Cabinet 3-Drawer</c:v>
                  </c:pt>
                  <c:pt idx="7">
                    <c:v>Folding Table Portable</c:v>
                  </c:pt>
                  <c:pt idx="8">
                    <c:v>Portable External SSD 1TB</c:v>
                  </c:pt>
                  <c:pt idx="9">
                    <c:v>Bookshelf 5-Tier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46614</c:v>
                </c:pt>
                <c:pt idx="1">
                  <c:v>45405</c:v>
                </c:pt>
                <c:pt idx="2">
                  <c:v>41070</c:v>
                </c:pt>
                <c:pt idx="3">
                  <c:v>38180</c:v>
                </c:pt>
                <c:pt idx="4">
                  <c:v>28259</c:v>
                </c:pt>
                <c:pt idx="5">
                  <c:v>24072</c:v>
                </c:pt>
                <c:pt idx="6">
                  <c:v>23108</c:v>
                </c:pt>
                <c:pt idx="7">
                  <c:v>18663</c:v>
                </c:pt>
                <c:pt idx="8">
                  <c:v>18065</c:v>
                </c:pt>
                <c:pt idx="9">
                  <c:v>17742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0A2E6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A2E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($)</c:v>
                </c:pt>
              </c:strCache>
            </c:strRef>
          </c:tx>
          <c:spPr>
            <a:solidFill>
              <a:srgbClr val="FFC107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A2E6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Consumer</c:v>
                  </c:pt>
                  <c:pt idx="1">
                    <c:v>Corporate</c:v>
                  </c:pt>
                  <c:pt idx="2">
                    <c:v>Home Office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256288</c:v>
                </c:pt>
                <c:pt idx="1">
                  <c:v>146050</c:v>
                </c:pt>
                <c:pt idx="2">
                  <c:v>82221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A2E6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A2E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33672" cy="6858000"/>
          </a:xfrm>
          <a:prstGeom prst="rect">
            <a:avLst/>
          </a:prstGeom>
          <a:solidFill>
            <a:srgbClr val="0B3AC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C10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217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20" b="1" dirty="0">
                <a:solidFill>
                  <a:srgbClr val="0A2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3220" dirty="0"/>
          </a:p>
        </p:txBody>
      </p:sp>
      <p:sp>
        <p:nvSpPr>
          <p:cNvPr id="5" name="Text 3"/>
          <p:cNvSpPr/>
          <p:nvPr/>
        </p:nvSpPr>
        <p:spPr>
          <a:xfrm>
            <a:off x="1463040" y="62179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ecommerce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Global Sales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Analyzing 2,000 orders across 20 countries and 3 years (2023–2025) to uncover revenue drivers, regional performance, and product trends.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029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10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$484.6K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5532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14600" y="5029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10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$158.9K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14600" y="5532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5029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10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2,000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389120" y="5532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5029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10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63640" y="5532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Dataset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90"/>
                </a:solidFill>
              </a:rPr>
              <a:t>Global e-commerce order records, cleaned and modeled for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EF1F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00200"/>
            <a:ext cx="73152" cy="1417320"/>
          </a:xfrm>
          <a:prstGeom prst="rect">
            <a:avLst/>
          </a:prstGeom>
          <a:solidFill>
            <a:srgbClr val="0E46E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6479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2,000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26280" y="16002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EF1FA"/>
          </a:solidFill>
          <a:ln/>
        </p:spPr>
      </p:sp>
      <p:sp>
        <p:nvSpPr>
          <p:cNvPr id="9" name="Shape 7"/>
          <p:cNvSpPr/>
          <p:nvPr/>
        </p:nvSpPr>
        <p:spPr>
          <a:xfrm>
            <a:off x="4526280" y="1600200"/>
            <a:ext cx="73152" cy="14173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76479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80060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Fields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0" y="16002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EF1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0" y="1600200"/>
            <a:ext cx="73152" cy="1417320"/>
          </a:xfrm>
          <a:prstGeom prst="rect">
            <a:avLst/>
          </a:prstGeom>
          <a:solidFill>
            <a:srgbClr val="5B8DF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176479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68680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Countries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EF1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246120"/>
            <a:ext cx="73152" cy="1417320"/>
          </a:xfrm>
          <a:prstGeom prst="rect">
            <a:avLst/>
          </a:prstGeom>
          <a:solidFill>
            <a:srgbClr val="0A2E63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41071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1440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26280" y="32461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EF1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26280" y="3246120"/>
            <a:ext cx="73152" cy="1417320"/>
          </a:xfrm>
          <a:prstGeom prst="rect">
            <a:avLst/>
          </a:prstGeom>
          <a:solidFill>
            <a:srgbClr val="FFA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41071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480060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Products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412480" y="32461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EF1FA"/>
          </a:solidFill>
          <a:ln/>
        </p:spPr>
      </p:sp>
      <p:sp>
        <p:nvSpPr>
          <p:cNvPr id="25" name="Shape 23"/>
          <p:cNvSpPr/>
          <p:nvPr/>
        </p:nvSpPr>
        <p:spPr>
          <a:xfrm>
            <a:off x="8412480" y="3246120"/>
            <a:ext cx="73152" cy="1417320"/>
          </a:xfrm>
          <a:prstGeom prst="rect">
            <a:avLst/>
          </a:prstGeom>
          <a:solidFill>
            <a:srgbClr val="0E46EC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0" y="341071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868680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Values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Fields span order details, geography, product category, pricing, discounts, shipping cost, profit, and payment method — covering Jan 2023 through Dec 2025.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Building the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90"/>
                </a:solidFill>
              </a:rPr>
              <a:t>From raw CSV to a published Power BI report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0E46E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Clean &amp; Structure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Enriched order data with Year, Quarter, and Month fields; exported to Excel for import.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548640" cy="548640"/>
          </a:xfrm>
          <a:prstGeom prst="ellipse">
            <a:avLst/>
          </a:prstGeom>
          <a:solidFill>
            <a:srgbClr val="0E46EC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2377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Model with DAX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29000" y="283464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core measures — Total Sales, Profit Margin %, AOV, YoY trend — in a dedicated measures table.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548640" cy="548640"/>
          </a:xfrm>
          <a:prstGeom prst="ellipse">
            <a:avLst/>
          </a:prstGeom>
          <a:solidFill>
            <a:srgbClr val="0E46EC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2377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 the Theme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17920" y="283464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Applied a custom blue (#0E46EC) and yellow (#FFC107) Power BI theme across every visual.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6840" y="1691640"/>
            <a:ext cx="548640" cy="548640"/>
          </a:xfrm>
          <a:prstGeom prst="ellipse">
            <a:avLst/>
          </a:prstGeom>
          <a:solidFill>
            <a:srgbClr val="0E46EC"/>
          </a:solidFill>
          <a:ln/>
        </p:spPr>
      </p:sp>
      <p:sp>
        <p:nvSpPr>
          <p:cNvPr id="17" name="Text 15"/>
          <p:cNvSpPr/>
          <p:nvPr/>
        </p:nvSpPr>
        <p:spPr>
          <a:xfrm>
            <a:off x="900684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06840" y="2377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Publish &amp; Navigate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006840" y="283464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Overview, Geography, and Products pages linked by a styled page navigator.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Revenue &amp; Profit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90"/>
                </a:solidFill>
              </a:rPr>
              <a:t>Strong, stable margins across all three years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A2E6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10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$484.6K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A2E63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6916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10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$158.9K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29000" y="2286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A2E63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6916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10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32.8%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17920" y="2286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0684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A2E63"/>
          </a:solidFill>
          <a:ln/>
        </p:spPr>
      </p:sp>
      <p:sp>
        <p:nvSpPr>
          <p:cNvPr id="14" name="Text 12"/>
          <p:cNvSpPr/>
          <p:nvPr/>
        </p:nvSpPr>
        <p:spPr>
          <a:xfrm>
            <a:off x="9006840" y="16916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10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$242.28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06840" y="2286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971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2E63"/>
                </a:solidFill>
              </a:rPr>
              <a:t>SALES &amp; PROFIT BY YEAR</a:t>
            </a:r>
            <a:endParaRPr lang="en-US" sz="11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0080" y="3291840"/>
          <a:ext cx="58521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6812280" y="2971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2E63"/>
                </a:solidFill>
              </a:rPr>
              <a:t>Key Insight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812280" y="3291840"/>
            <a:ext cx="4754880" cy="3017520"/>
          </a:xfrm>
          <a:prstGeom prst="roundRect">
            <a:avLst>
              <a:gd name="adj" fmla="val 2424"/>
            </a:avLst>
          </a:prstGeom>
          <a:solidFill>
            <a:srgbClr val="EEF1FA"/>
          </a:solidFill>
          <a:ln/>
        </p:spPr>
      </p:sp>
      <p:sp>
        <p:nvSpPr>
          <p:cNvPr id="20" name="Text 17"/>
          <p:cNvSpPr/>
          <p:nvPr/>
        </p:nvSpPr>
        <p:spPr>
          <a:xfrm>
            <a:off x="7086600" y="3566160"/>
            <a:ext cx="4206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A2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held steady across all three years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E46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(~$155–165K/year)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A2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margin consistently above 32%. Profitability is not concentrated in one year — the business model scales predictably.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Furniture Leads Every Category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90"/>
                </a:solidFill>
              </a:rPr>
              <a:t>Sales, profit, and margin by product category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554480"/>
          <a:ext cx="4233672" cy="2194560"/>
        </p:xfrm>
        <a:graphic>
          <a:graphicData uri="http://schemas.openxmlformats.org/drawingml/2006/table">
            <a:tbl>
              <a:tblPr/>
              <a:tblGrid>
                <a:gridCol w="1411224"/>
                <a:gridCol w="1411224"/>
                <a:gridCol w="141122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E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E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 of Sales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E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Margin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E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Furniture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E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52.9%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E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31.7%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E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E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28.8%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E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34.6%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E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Clothing &amp; Accessories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E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14.3%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E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37.6%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E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Office Supplies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E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E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17.1%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F1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315200" y="1554480"/>
            <a:ext cx="4233672" cy="365760"/>
          </a:xfrm>
          <a:prstGeom prst="rect">
            <a:avLst/>
          </a:prstGeom>
          <a:solidFill>
            <a:srgbClr val="0A2E63"/>
          </a:solidFill>
          <a:ln/>
        </p:spPr>
      </p:sp>
      <p:sp>
        <p:nvSpPr>
          <p:cNvPr id="7" name="Text 3"/>
          <p:cNvSpPr/>
          <p:nvPr/>
        </p:nvSpPr>
        <p:spPr>
          <a:xfrm>
            <a:off x="745236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Category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28116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Share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037844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Margin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315200" y="3977640"/>
            <a:ext cx="4233672" cy="1600200"/>
          </a:xfrm>
          <a:prstGeom prst="roundRect">
            <a:avLst>
              <a:gd name="adj" fmla="val 4571"/>
            </a:avLst>
          </a:prstGeom>
          <a:solidFill>
            <a:srgbClr val="EEF1FA"/>
          </a:solidFill>
          <a:ln/>
        </p:spPr>
      </p:sp>
      <p:sp>
        <p:nvSpPr>
          <p:cNvPr id="11" name="Text 7"/>
          <p:cNvSpPr/>
          <p:nvPr/>
        </p:nvSpPr>
        <p:spPr>
          <a:xfrm>
            <a:off x="7543800" y="416052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E46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Clothing &amp; Accessories carries the highest margin (37.6%)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A2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despite lower volume — a strong candidate for targeted growth alongside Furniture's scale.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Europe &amp; North America Lead, Mexico Tops Countries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90"/>
                </a:solidFill>
              </a:rPr>
              <a:t>Regional and country-level sales distribution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2E63"/>
                </a:solidFill>
              </a:rPr>
              <a:t>SALES BY REGION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783080"/>
          <a:ext cx="5852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76656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2E63"/>
                </a:solidFill>
              </a:rPr>
              <a:t>TOP 5 COUNTRIES</a:t>
            </a:r>
            <a:endParaRPr lang="en-US" sz="11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766560" y="1783080"/>
          <a:ext cx="4800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590"/>
                </a:solidFill>
              </a:rPr>
              <a:t>Region concentration is healthy — no single region exceeds 30% of sales, reducing geographic risk.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Standing Desk Converter Is the Top Seller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90"/>
                </a:solidFill>
              </a:rPr>
              <a:t>Top 10 products by sales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08760"/>
          <a:ext cx="109728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Consumers Drive Volume, Credit Card Leads Payments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90"/>
                </a:solidFill>
              </a:rPr>
              <a:t>Customer segment and payment method breakdown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2E63"/>
                </a:solidFill>
              </a:rPr>
              <a:t>CUSTOMER SEGMENT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783080"/>
          <a:ext cx="5486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2E63"/>
                </a:solidFill>
              </a:rPr>
              <a:t>PAYMENT METHOD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Credit Card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241280" y="18288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590"/>
                </a:solidFill>
              </a:rPr>
              <a:t>$192.7K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2176272"/>
            <a:ext cx="5120640" cy="164592"/>
          </a:xfrm>
          <a:prstGeom prst="roundRect">
            <a:avLst>
              <a:gd name="adj" fmla="val 27778"/>
            </a:avLst>
          </a:prstGeom>
          <a:solidFill>
            <a:srgbClr val="EEF1FA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176272"/>
            <a:ext cx="5095037" cy="164592"/>
          </a:xfrm>
          <a:prstGeom prst="roundRect">
            <a:avLst>
              <a:gd name="adj" fmla="val 27778"/>
            </a:avLst>
          </a:prstGeom>
          <a:solidFill>
            <a:srgbClr val="0E46EC"/>
          </a:solidFill>
          <a:ln/>
        </p:spPr>
      </p:sp>
      <p:sp>
        <p:nvSpPr>
          <p:cNvPr id="11" name="Text 8"/>
          <p:cNvSpPr/>
          <p:nvPr/>
        </p:nvSpPr>
        <p:spPr>
          <a:xfrm>
            <a:off x="11567160" y="2139696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90"/>
                </a:solidFill>
              </a:rPr>
              <a:t>39.8%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00800" y="2697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PayPal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241280" y="26974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590"/>
                </a:solidFill>
              </a:rPr>
              <a:t>$143.1K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0" y="3044952"/>
            <a:ext cx="5120640" cy="164592"/>
          </a:xfrm>
          <a:prstGeom prst="roundRect">
            <a:avLst>
              <a:gd name="adj" fmla="val 27778"/>
            </a:avLst>
          </a:prstGeom>
          <a:solidFill>
            <a:srgbClr val="EEF1FA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0" y="3044952"/>
            <a:ext cx="3776472" cy="164592"/>
          </a:xfrm>
          <a:prstGeom prst="roundRect">
            <a:avLst>
              <a:gd name="adj" fmla="val 27778"/>
            </a:avLst>
          </a:prstGeom>
          <a:solidFill>
            <a:srgbClr val="5B8DFF"/>
          </a:solidFill>
          <a:ln/>
        </p:spPr>
      </p:sp>
      <p:sp>
        <p:nvSpPr>
          <p:cNvPr id="16" name="Text 13"/>
          <p:cNvSpPr/>
          <p:nvPr/>
        </p:nvSpPr>
        <p:spPr>
          <a:xfrm>
            <a:off x="11567160" y="3008376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90"/>
                </a:solidFill>
              </a:rPr>
              <a:t>29.5%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400800" y="3566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Cash on Delivery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241280" y="3566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590"/>
                </a:solidFill>
              </a:rPr>
              <a:t>$77.1K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0" y="3913632"/>
            <a:ext cx="5120640" cy="164592"/>
          </a:xfrm>
          <a:prstGeom prst="roundRect">
            <a:avLst>
              <a:gd name="adj" fmla="val 27778"/>
            </a:avLst>
          </a:prstGeom>
          <a:solidFill>
            <a:srgbClr val="EEF1FA"/>
          </a:solidFill>
          <a:ln/>
        </p:spPr>
      </p:sp>
      <p:sp>
        <p:nvSpPr>
          <p:cNvPr id="20" name="Shape 17"/>
          <p:cNvSpPr/>
          <p:nvPr/>
        </p:nvSpPr>
        <p:spPr>
          <a:xfrm>
            <a:off x="6400800" y="3913632"/>
            <a:ext cx="2035454" cy="164592"/>
          </a:xfrm>
          <a:prstGeom prst="roundRect">
            <a:avLst>
              <a:gd name="adj" fmla="val 27778"/>
            </a:avLst>
          </a:prstGeom>
          <a:solidFill>
            <a:srgbClr val="FFC107"/>
          </a:solidFill>
          <a:ln/>
        </p:spPr>
      </p:sp>
      <p:sp>
        <p:nvSpPr>
          <p:cNvPr id="21" name="Text 18"/>
          <p:cNvSpPr/>
          <p:nvPr/>
        </p:nvSpPr>
        <p:spPr>
          <a:xfrm>
            <a:off x="11567160" y="3877056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90"/>
                </a:solidFill>
              </a:rPr>
              <a:t>15.9%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400800" y="4434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Bank Transfer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241280" y="4434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590"/>
                </a:solidFill>
              </a:rPr>
              <a:t>$71.6K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0" y="4782312"/>
            <a:ext cx="5120640" cy="164592"/>
          </a:xfrm>
          <a:prstGeom prst="roundRect">
            <a:avLst>
              <a:gd name="adj" fmla="val 27778"/>
            </a:avLst>
          </a:prstGeom>
          <a:solidFill>
            <a:srgbClr val="EEF1FA"/>
          </a:solidFill>
          <a:ln/>
        </p:spPr>
      </p:sp>
      <p:sp>
        <p:nvSpPr>
          <p:cNvPr id="25" name="Shape 22"/>
          <p:cNvSpPr/>
          <p:nvPr/>
        </p:nvSpPr>
        <p:spPr>
          <a:xfrm>
            <a:off x="6400800" y="4782312"/>
            <a:ext cx="1894637" cy="164592"/>
          </a:xfrm>
          <a:prstGeom prst="roundRect">
            <a:avLst>
              <a:gd name="adj" fmla="val 27778"/>
            </a:avLst>
          </a:prstGeom>
          <a:solidFill>
            <a:srgbClr val="0A2E63"/>
          </a:solidFill>
          <a:ln/>
        </p:spPr>
      </p:sp>
      <p:sp>
        <p:nvSpPr>
          <p:cNvPr id="26" name="Text 23"/>
          <p:cNvSpPr/>
          <p:nvPr/>
        </p:nvSpPr>
        <p:spPr>
          <a:xfrm>
            <a:off x="11567160" y="4745736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590"/>
                </a:solidFill>
              </a:rPr>
              <a:t>14.8%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E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C10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30" b="1" dirty="0">
                <a:solidFill>
                  <a:srgbClr val="0A2E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530" dirty="0"/>
          </a:p>
        </p:txBody>
      </p:sp>
      <p:sp>
        <p:nvSpPr>
          <p:cNvPr id="4" name="Text 2"/>
          <p:cNvSpPr/>
          <p:nvPr/>
        </p:nvSpPr>
        <p:spPr>
          <a:xfrm>
            <a:off x="12344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Power BI Dashboard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3444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E0"/>
                </a:solidFill>
              </a:rPr>
              <a:t>Overview · Geography · Products — three linked pages, one theme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703320" cy="466344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mnt/user-data/uploads/Screenshot_2026-08-02_18032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3520440" cy="24048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1148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Overview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1508760"/>
            <a:ext cx="3703320" cy="466344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/mnt/user-data/uploads/Screenshot_2026-08-02_18563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80560" y="1600200"/>
            <a:ext cx="3520440" cy="24048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80560" y="41148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Geography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321040" y="1508760"/>
            <a:ext cx="3703320" cy="466344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/mnt/user-data/uploads/Screenshot_2026-08-02_18570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12480" y="1600200"/>
            <a:ext cx="3520440" cy="24048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0" y="41148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90"/>
                </a:solidFill>
              </a:rPr>
              <a:t>Where the data points next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EEF1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20240"/>
            <a:ext cx="457200" cy="457200"/>
          </a:xfrm>
          <a:prstGeom prst="ellipse">
            <a:avLst/>
          </a:prstGeom>
          <a:solidFill>
            <a:srgbClr val="0E46E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9019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Grow Clothing &amp; Accessories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Highest margin category (37.6%) but only 14.3% of sales — room to expand without eroding profit.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EEF1FA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1920240"/>
            <a:ext cx="457200" cy="45720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0" y="19019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Double Down on Furniture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Already 52.9% of revenue — protect this base with better stock availability in Mexico, Canada, and the US.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EEF1F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114800"/>
            <a:ext cx="457200" cy="457200"/>
          </a:xfrm>
          <a:prstGeom prst="ellipse">
            <a:avLst/>
          </a:prstGeom>
          <a:solidFill>
            <a:srgbClr val="5B8D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409651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Promote Digital Payments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7091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 Card and PayPal cover 69% of sales; shifting more Cash-on-Delivery orders online can speed fulfillment.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84048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EEF1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4114800"/>
            <a:ext cx="457200" cy="457200"/>
          </a:xfrm>
          <a:prstGeom prst="ellipse">
            <a:avLst/>
          </a:prstGeom>
          <a:solidFill>
            <a:srgbClr val="0A2E6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23760" y="409651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6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Expand Corporate &amp; Home Office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47091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Together 45% of orders — tailored bulk pricing could lift both segments further.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2026-08-02T15:58:45Z</dcterms:created>
  <dcterms:modified xsi:type="dcterms:W3CDTF">2026-08-02T15:58:45Z</dcterms:modified>
</cp:coreProperties>
</file>